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0"/>
  </p:notesMasterIdLst>
  <p:sldIdLst>
    <p:sldId id="256" r:id="rId5"/>
    <p:sldId id="2146847054" r:id="rId6"/>
    <p:sldId id="262" r:id="rId7"/>
    <p:sldId id="263" r:id="rId8"/>
    <p:sldId id="2146847059" r:id="rId9"/>
    <p:sldId id="266" r:id="rId10"/>
    <p:sldId id="2146847060" r:id="rId11"/>
    <p:sldId id="2146847063" r:id="rId12"/>
    <p:sldId id="2146847062" r:id="rId13"/>
    <p:sldId id="2146847061" r:id="rId14"/>
    <p:sldId id="268" r:id="rId15"/>
    <p:sldId id="2146847055" r:id="rId16"/>
    <p:sldId id="269" r:id="rId17"/>
    <p:sldId id="2146847058" r:id="rId18"/>
    <p:sldId id="25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6" d="100"/>
          <a:sy n="86" d="100"/>
        </p:scale>
        <p:origin x="533"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28-02-2026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2/28/2026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2/28/2026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2/28/2026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2/28/2026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2/28/2026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2/28/2026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2/28/2026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2/28/2026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2/28/2026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2/28/2026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2/28/2026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2/28/2026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Tanmaysanap45/AICTE-BATCH7-MY-PROJECT.git"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normAutofit fontScale="90000"/>
          </a:bodyPr>
          <a:lstStyle/>
          <a:p>
            <a:pPr algn="ctr"/>
            <a:r>
              <a:rPr lang="en-US" b="1" dirty="0" err="1">
                <a:solidFill>
                  <a:schemeClr val="accent1"/>
                </a:solidFill>
                <a:latin typeface="Arial" panose="020B0604020202020204" pitchFamily="34" charset="0"/>
                <a:cs typeface="Arial" panose="020B0604020202020204" pitchFamily="34" charset="0"/>
              </a:rPr>
              <a:t>CardScout</a:t>
            </a:r>
            <a:r>
              <a:rPr lang="en-US" b="1" dirty="0">
                <a:solidFill>
                  <a:schemeClr val="accent1"/>
                </a:solidFill>
                <a:latin typeface="Arial" panose="020B0604020202020204" pitchFamily="34" charset="0"/>
                <a:cs typeface="Arial" panose="020B0604020202020204" pitchFamily="34" charset="0"/>
              </a:rPr>
              <a:t>: an Intelligent Credit Card Finder.</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3202196" y="4058588"/>
            <a:ext cx="7980183" cy="1631216"/>
          </a:xfrm>
          <a:prstGeom prst="rect">
            <a:avLst/>
          </a:prstGeom>
          <a:noFill/>
        </p:spPr>
        <p:txBody>
          <a:bodyPr wrap="square" lIns="91440" tIns="45720" rIns="91440" bIns="45720" rtlCol="0" anchor="t">
            <a:spAutoFit/>
          </a:bodyPr>
          <a:lstStyle/>
          <a:p>
            <a:r>
              <a:rPr lang="en-US" sz="2000" b="1" dirty="0">
                <a:solidFill>
                  <a:schemeClr val="accent1"/>
                </a:solidFill>
                <a:latin typeface="Arial" pitchFamily="34" charset="0"/>
                <a:cs typeface="Arial" pitchFamily="34" charset="0"/>
              </a:rPr>
              <a:t>Presented By:</a:t>
            </a:r>
          </a:p>
          <a:p>
            <a:pPr marL="457200" indent="-457200">
              <a:buAutoNum type="arabicPeriod"/>
            </a:pPr>
            <a:r>
              <a:rPr lang="en-US" sz="2000" b="1" dirty="0">
                <a:solidFill>
                  <a:schemeClr val="accent1"/>
                </a:solidFill>
                <a:latin typeface="Arial"/>
                <a:cs typeface="Arial"/>
              </a:rPr>
              <a:t>Student Name- Tanmay Santosh Sanap</a:t>
            </a:r>
          </a:p>
          <a:p>
            <a:pPr marL="457200" indent="-457200">
              <a:buAutoNum type="arabicPeriod"/>
            </a:pPr>
            <a:r>
              <a:rPr lang="en-US" sz="2000" b="1" dirty="0">
                <a:solidFill>
                  <a:schemeClr val="accent1"/>
                </a:solidFill>
                <a:latin typeface="Arial"/>
                <a:cs typeface="Arial"/>
              </a:rPr>
              <a:t>College Name-  B.K Birla College</a:t>
            </a:r>
          </a:p>
          <a:p>
            <a:pPr marL="457200" indent="-457200">
              <a:buAutoNum type="arabicPeriod"/>
            </a:pPr>
            <a:r>
              <a:rPr lang="en-US" sz="2000" b="1" dirty="0">
                <a:solidFill>
                  <a:schemeClr val="accent1"/>
                </a:solidFill>
                <a:latin typeface="Arial"/>
                <a:cs typeface="Arial"/>
              </a:rPr>
              <a:t>Department- </a:t>
            </a:r>
            <a:r>
              <a:rPr lang="en-US" sz="2000" b="1" dirty="0" err="1">
                <a:solidFill>
                  <a:schemeClr val="accent1"/>
                </a:solidFill>
                <a:latin typeface="Arial"/>
                <a:cs typeface="Arial"/>
              </a:rPr>
              <a:t>B.Sc</a:t>
            </a:r>
            <a:r>
              <a:rPr lang="en-US" sz="2000" b="1" dirty="0">
                <a:solidFill>
                  <a:schemeClr val="accent1"/>
                </a:solidFill>
                <a:latin typeface="Arial"/>
                <a:cs typeface="Arial"/>
              </a:rPr>
              <a:t> Data Science</a:t>
            </a:r>
          </a:p>
          <a:p>
            <a:pPr marL="457200" indent="-457200">
              <a:buAutoNum type="arabicPeriod"/>
            </a:pPr>
            <a:r>
              <a:rPr lang="en-US" sz="2000" b="1" dirty="0">
                <a:solidFill>
                  <a:schemeClr val="accent1"/>
                </a:solidFill>
                <a:latin typeface="Arial"/>
                <a:cs typeface="Arial"/>
              </a:rPr>
              <a:t>AICTE Student ID- STU68655f0b0ffe71751473931</a:t>
            </a:r>
            <a:endParaRPr lang="en-US" sz="2000" b="1" dirty="0">
              <a:solidFill>
                <a:schemeClr val="accent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dirty="0">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r>
              <a:rPr lang="en-US" sz="2000" b="1" dirty="0">
                <a:latin typeface="Arial"/>
                <a:ea typeface="+mn-lt"/>
                <a:cs typeface="Arial"/>
              </a:rPr>
              <a:t>Problem Statement </a:t>
            </a:r>
            <a:r>
              <a:rPr lang="en-US" sz="2000" dirty="0">
                <a:latin typeface="Arial"/>
                <a:ea typeface="+mn-lt"/>
                <a:cs typeface="Arial"/>
              </a:rPr>
              <a:t>(Should not include solution)</a:t>
            </a:r>
            <a:endParaRPr lang="en-US" dirty="0">
              <a:latin typeface="Arial"/>
              <a:cs typeface="Arial"/>
            </a:endParaRPr>
          </a:p>
          <a:p>
            <a:r>
              <a:rPr lang="en-US" sz="2000" b="1" dirty="0">
                <a:latin typeface="Arial"/>
                <a:ea typeface="+mn-lt"/>
                <a:cs typeface="Arial"/>
              </a:rPr>
              <a:t>Proposed System/Solution</a:t>
            </a:r>
            <a:endParaRPr lang="en-US" dirty="0">
              <a:latin typeface="Arial"/>
              <a:cs typeface="Arial"/>
            </a:endParaRPr>
          </a:p>
          <a:p>
            <a:r>
              <a:rPr lang="en-US" sz="2000" b="1" dirty="0">
                <a:latin typeface="Arial"/>
                <a:ea typeface="+mn-lt"/>
                <a:cs typeface="Calibri"/>
              </a:rPr>
              <a:t>System </a:t>
            </a:r>
            <a:r>
              <a:rPr lang="en-US" sz="2000" b="1" dirty="0">
                <a:latin typeface="Arial"/>
                <a:ea typeface="+mn-lt"/>
                <a:cs typeface="+mn-lt"/>
              </a:rPr>
              <a:t>Development Approach </a:t>
            </a:r>
            <a:r>
              <a:rPr lang="en-US" sz="2000" dirty="0">
                <a:latin typeface="Arial"/>
                <a:ea typeface="+mn-lt"/>
                <a:cs typeface="+mn-lt"/>
              </a:rPr>
              <a:t>(Technology Used) </a:t>
            </a:r>
            <a:endParaRPr lang="en-US" dirty="0">
              <a:latin typeface="Arial"/>
              <a:ea typeface="+mn-lt"/>
              <a:cs typeface="+mn-lt"/>
            </a:endParaRPr>
          </a:p>
          <a:p>
            <a:r>
              <a:rPr lang="en-US" sz="2000" b="1" dirty="0">
                <a:latin typeface="Arial"/>
                <a:ea typeface="+mn-lt"/>
                <a:cs typeface="+mn-lt"/>
              </a:rPr>
              <a:t>Algorithm &amp; Deployment  </a:t>
            </a:r>
            <a:endParaRPr lang="en-US" dirty="0">
              <a:latin typeface="Arial"/>
              <a:cs typeface="Calibri"/>
            </a:endParaRPr>
          </a:p>
          <a:p>
            <a:r>
              <a:rPr lang="en-US" sz="2000" b="1" dirty="0">
                <a:latin typeface="Arial"/>
                <a:ea typeface="+mn-lt"/>
                <a:cs typeface="Arial"/>
              </a:rPr>
              <a:t>Result</a:t>
            </a:r>
          </a:p>
          <a:p>
            <a:r>
              <a:rPr lang="en-US" sz="2000" b="1" dirty="0">
                <a:latin typeface="Arial"/>
                <a:ea typeface="+mn-lt"/>
                <a:cs typeface="Arial"/>
              </a:rPr>
              <a:t>Conclusion</a:t>
            </a:r>
            <a:endParaRPr lang="en-US" dirty="0">
              <a:latin typeface="Arial"/>
              <a:cs typeface="Arial"/>
            </a:endParaRPr>
          </a:p>
          <a:p>
            <a:r>
              <a:rPr lang="en-US" sz="2000" b="1" dirty="0">
                <a:latin typeface="Arial"/>
                <a:ea typeface="+mn-lt"/>
                <a:cs typeface="Arial"/>
              </a:rPr>
              <a:t>Future Scope</a:t>
            </a:r>
          </a:p>
          <a:p>
            <a:r>
              <a:rPr lang="en-US" sz="2000" b="1" dirty="0">
                <a:latin typeface="Arial"/>
                <a:ea typeface="+mn-lt"/>
                <a:cs typeface="Arial"/>
              </a:rPr>
              <a:t>References</a:t>
            </a:r>
            <a:endParaRPr lang="en-US" dirty="0">
              <a:latin typeface="Arial"/>
              <a:cs typeface="Arial"/>
            </a:endParaRPr>
          </a:p>
          <a:p>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normAutofit fontScale="70000" lnSpcReduction="20000"/>
          </a:bodyPr>
          <a:lstStyle/>
          <a:p>
            <a:r>
              <a:rPr lang="en-US" sz="2800" dirty="0"/>
              <a:t>Maintaining a healthy lifestyle is challenging for students due to busy schedules, limited budgets, and lack of personalized guidance. Most fitness applications provide generic workout and diet plans that do not consider individual body types, cultural food habits, or available resources. As a result, students often follow unrealistic routines that are difficult to sustain and fail to achieve their fitness goals.</a:t>
            </a:r>
          </a:p>
          <a:p>
            <a:r>
              <a:rPr lang="en-US" sz="2800" b="1" dirty="0"/>
              <a:t>There is a critical need for an intelligent tool that can:</a:t>
            </a:r>
            <a:endParaRPr lang="en-US" sz="2800" dirty="0"/>
          </a:p>
          <a:p>
            <a:r>
              <a:rPr lang="en-US" sz="2800" dirty="0"/>
              <a:t>➤ </a:t>
            </a:r>
            <a:r>
              <a:rPr lang="en-US" sz="2800" b="1" dirty="0"/>
              <a:t>Analyze individual data</a:t>
            </a:r>
            <a:r>
              <a:rPr lang="en-US" sz="2800" dirty="0"/>
              <a:t> — including age, weight, BMI, fitness goals, and daily schedule — to generate personalized fitness recommendations instead of generic plans.</a:t>
            </a:r>
          </a:p>
          <a:p>
            <a:r>
              <a:rPr lang="en-US" sz="2800" dirty="0"/>
              <a:t>➤ </a:t>
            </a:r>
            <a:r>
              <a:rPr lang="en-US" sz="2800" b="1" dirty="0"/>
              <a:t>Create customized workout routines</a:t>
            </a:r>
            <a:r>
              <a:rPr lang="en-US" sz="2800" dirty="0"/>
              <a:t> tailored to the user’s fitness level, available equipment, and time constraints.</a:t>
            </a:r>
          </a:p>
          <a:p>
            <a:r>
              <a:rPr lang="en-US" sz="2800" dirty="0"/>
              <a:t>➤ </a:t>
            </a:r>
            <a:r>
              <a:rPr lang="en-US" sz="2800" b="1" dirty="0"/>
              <a:t>Provide culturally appropriate diet plans</a:t>
            </a:r>
            <a:r>
              <a:rPr lang="en-US" sz="2800" dirty="0"/>
              <a:t> by suggesting Indian meals that match nutritional needs and budget limitations.</a:t>
            </a:r>
          </a:p>
          <a:p>
            <a:r>
              <a:rPr lang="en-US" sz="2800" dirty="0"/>
              <a:t>➤ </a:t>
            </a:r>
            <a:r>
              <a:rPr lang="en-US" sz="2800" b="1" dirty="0"/>
              <a:t>Recommend practical lifestyle changes</a:t>
            </a:r>
            <a:r>
              <a:rPr lang="en-US" sz="2800" dirty="0"/>
              <a:t> that help students maintain consistency and achieve long-term health improvements through AI-driven guidance.</a:t>
            </a:r>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Proposed Solution</a:t>
            </a:r>
            <a:endParaRPr lang="en-US" sz="4400" dirty="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pPr marL="305435" indent="-305435"/>
            <a:endParaRPr lang="en-IN" sz="1600" dirty="0"/>
          </a:p>
          <a:p>
            <a:pPr marL="0" indent="0">
              <a:buNone/>
            </a:pPr>
            <a:endParaRPr lang="en-IN" dirty="0"/>
          </a:p>
        </p:txBody>
      </p:sp>
      <p:sp>
        <p:nvSpPr>
          <p:cNvPr id="3" name="TextBox 2">
            <a:extLst>
              <a:ext uri="{FF2B5EF4-FFF2-40B4-BE49-F238E27FC236}">
                <a16:creationId xmlns:a16="http://schemas.microsoft.com/office/drawing/2014/main" id="{FA7BA947-83BE-4749-B7EB-B11C714EA86B}"/>
              </a:ext>
            </a:extLst>
          </p:cNvPr>
          <p:cNvSpPr txBox="1"/>
          <p:nvPr/>
        </p:nvSpPr>
        <p:spPr>
          <a:xfrm>
            <a:off x="581192" y="1322706"/>
            <a:ext cx="11169137" cy="5355312"/>
          </a:xfrm>
          <a:prstGeom prst="rect">
            <a:avLst/>
          </a:prstGeom>
          <a:noFill/>
        </p:spPr>
        <p:txBody>
          <a:bodyPr wrap="square" rtlCol="0">
            <a:spAutoFit/>
          </a:bodyPr>
          <a:lstStyle/>
          <a:p>
            <a:r>
              <a:rPr lang="en-US" dirty="0"/>
              <a:t>This project is an automated, AI-driven wellness assistant that replaces generic fitness advice with personalized workout and nutrition planning. By using AI, the system generates practical routines and meal plans tailored to individual student needs, ensuring they are effective, culturally appropriate, and budget-friendly.</a:t>
            </a:r>
          </a:p>
          <a:p>
            <a:r>
              <a:rPr lang="en-US" b="1" dirty="0"/>
              <a:t>Core Components of the Solution:</a:t>
            </a:r>
            <a:endParaRPr lang="en-US" dirty="0"/>
          </a:p>
          <a:p>
            <a:r>
              <a:rPr lang="en-US" dirty="0"/>
              <a:t>• </a:t>
            </a:r>
            <a:r>
              <a:rPr lang="en-US" b="1" dirty="0"/>
              <a:t>AI Wellness Dashboard:</a:t>
            </a:r>
            <a:br>
              <a:rPr lang="en-US" dirty="0"/>
            </a:br>
            <a:r>
              <a:rPr lang="en-US" dirty="0"/>
              <a:t>A simple interface that displays personalized fitness insights such as daily calorie needs, workout recommendations, and nutrition targets based on user data.</a:t>
            </a:r>
          </a:p>
          <a:p>
            <a:r>
              <a:rPr lang="en-US" dirty="0"/>
              <a:t>• </a:t>
            </a:r>
            <a:r>
              <a:rPr lang="en-US" b="1" dirty="0"/>
              <a:t>Personalized Workout Planner:</a:t>
            </a:r>
            <a:br>
              <a:rPr lang="en-US" dirty="0"/>
            </a:br>
            <a:r>
              <a:rPr lang="en-US" dirty="0"/>
              <a:t>Generates customized exercise routines tailored to fitness level, body type, available equipment, and time availability.</a:t>
            </a:r>
          </a:p>
          <a:p>
            <a:r>
              <a:rPr lang="en-US" dirty="0"/>
              <a:t>• </a:t>
            </a:r>
            <a:r>
              <a:rPr lang="en-US" b="1" dirty="0"/>
              <a:t>Smart Diet Planner:</a:t>
            </a:r>
            <a:br>
              <a:rPr lang="en-US" dirty="0"/>
            </a:br>
            <a:r>
              <a:rPr lang="en-US" dirty="0"/>
              <a:t>Provides Indian meal suggestions aligned with calorie and protein requirements while respecting cultural food habits and budget constraints.</a:t>
            </a:r>
          </a:p>
          <a:p>
            <a:r>
              <a:rPr lang="en-US" dirty="0"/>
              <a:t>• </a:t>
            </a:r>
            <a:r>
              <a:rPr lang="en-US" b="1" dirty="0"/>
              <a:t>Student Lifestyle Optimization:</a:t>
            </a:r>
            <a:br>
              <a:rPr lang="en-US" dirty="0"/>
            </a:br>
            <a:r>
              <a:rPr lang="en-US" dirty="0"/>
              <a:t>Recommends realistic habits and scheduling tips to help students maintain consistency despite academic workload and hostel living conditions.</a:t>
            </a:r>
          </a:p>
          <a:p>
            <a:r>
              <a:rPr lang="en-US" dirty="0"/>
              <a:t>• </a:t>
            </a:r>
            <a:r>
              <a:rPr lang="en-US" b="1" dirty="0"/>
              <a:t>Cloud-Based Deployment:</a:t>
            </a:r>
            <a:br>
              <a:rPr lang="en-US" dirty="0"/>
            </a:br>
            <a:r>
              <a:rPr lang="en-US" dirty="0"/>
              <a:t>The application is deployed online, allowing users to access their personalized fitness and diet plans anytime, anywhere.</a:t>
            </a:r>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55190B12-D907-212C-67FC-F4F2031D1B11}"/>
              </a:ext>
            </a:extLst>
          </p:cNvPr>
          <p:cNvSpPr>
            <a:spLocks noGrp="1" noChangeArrowheads="1"/>
          </p:cNvSpPr>
          <p:nvPr>
            <p:ph idx="1"/>
          </p:nvPr>
        </p:nvSpPr>
        <p:spPr bwMode="auto">
          <a:xfrm>
            <a:off x="581192" y="1088249"/>
            <a:ext cx="11394785" cy="4821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000" dirty="0"/>
              <a:t>❖ </a:t>
            </a:r>
            <a:r>
              <a:rPr lang="en-IN" sz="2000" b="1" dirty="0"/>
              <a:t>Development Tool</a:t>
            </a:r>
            <a:br>
              <a:rPr lang="en-IN" sz="2000" dirty="0"/>
            </a:br>
            <a:r>
              <a:rPr lang="en-IN" sz="2000" dirty="0"/>
              <a:t>➤ Visual Studio Code</a:t>
            </a:r>
          </a:p>
          <a:p>
            <a:r>
              <a:rPr lang="en-IN" sz="2000" dirty="0"/>
              <a:t>❖ </a:t>
            </a:r>
            <a:r>
              <a:rPr lang="en-IN" sz="2000" b="1" dirty="0"/>
              <a:t>Programming Language</a:t>
            </a:r>
            <a:br>
              <a:rPr lang="en-IN" sz="2000" dirty="0"/>
            </a:br>
            <a:r>
              <a:rPr lang="en-IN" sz="2000" dirty="0"/>
              <a:t>➤ Python</a:t>
            </a:r>
          </a:p>
          <a:p>
            <a:r>
              <a:rPr lang="en-IN" sz="2000" dirty="0"/>
              <a:t>❖ </a:t>
            </a:r>
            <a:r>
              <a:rPr lang="en-IN" sz="2000" b="1" dirty="0"/>
              <a:t>Framework Used</a:t>
            </a:r>
            <a:br>
              <a:rPr lang="en-IN" sz="2000" dirty="0"/>
            </a:br>
            <a:r>
              <a:rPr lang="en-IN" sz="2000" dirty="0"/>
              <a:t>➤ </a:t>
            </a:r>
            <a:r>
              <a:rPr lang="en-IN" sz="2000" dirty="0" err="1"/>
              <a:t>Streamlit</a:t>
            </a:r>
            <a:r>
              <a:rPr lang="en-IN" sz="2000" dirty="0"/>
              <a:t> (to build the web application)</a:t>
            </a:r>
          </a:p>
          <a:p>
            <a:r>
              <a:rPr lang="en-IN" sz="2000" dirty="0"/>
              <a:t>❖ </a:t>
            </a:r>
            <a:r>
              <a:rPr lang="en-IN" sz="2000" b="1" dirty="0"/>
              <a:t>Libraries Used</a:t>
            </a:r>
            <a:br>
              <a:rPr lang="en-IN" sz="2000" dirty="0"/>
            </a:br>
            <a:r>
              <a:rPr lang="en-IN" sz="2000" dirty="0"/>
              <a:t>➤ Pandas &amp; NumPy (data processing &amp; BMI calculation)</a:t>
            </a:r>
          </a:p>
          <a:p>
            <a:r>
              <a:rPr lang="en-IN" sz="2000" dirty="0"/>
              <a:t>❖ </a:t>
            </a:r>
            <a:r>
              <a:rPr lang="en-IN" sz="2000" b="1" dirty="0"/>
              <a:t>AI Integration</a:t>
            </a:r>
            <a:br>
              <a:rPr lang="en-IN" sz="2000" dirty="0"/>
            </a:br>
            <a:r>
              <a:rPr lang="en-IN" sz="2000" dirty="0"/>
              <a:t>➤ Gemini API (used to generate personalized workout &amp; diet recommendations)</a:t>
            </a:r>
          </a:p>
          <a:p>
            <a:r>
              <a:rPr lang="en-IN" sz="2000" dirty="0"/>
              <a:t>❖ </a:t>
            </a:r>
            <a:r>
              <a:rPr lang="en-IN" sz="2000" b="1" dirty="0"/>
              <a:t>Deployment Platform</a:t>
            </a:r>
            <a:br>
              <a:rPr lang="en-IN" sz="2000" dirty="0"/>
            </a:br>
            <a:r>
              <a:rPr lang="en-IN" sz="2000" dirty="0"/>
              <a:t>➤ </a:t>
            </a:r>
            <a:r>
              <a:rPr lang="en-IN" sz="2000" dirty="0" err="1"/>
              <a:t>Streamlit</a:t>
            </a:r>
            <a:r>
              <a:rPr lang="en-IN" sz="2000" dirty="0"/>
              <a:t> Cloud</a:t>
            </a:r>
          </a:p>
        </p:txBody>
      </p:sp>
    </p:spTree>
    <p:extLst>
      <p:ext uri="{BB962C8B-B14F-4D97-AF65-F5344CB8AC3E}">
        <p14:creationId xmlns:p14="http://schemas.microsoft.com/office/powerpoint/2010/main" val="41940667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Algorithm &amp; Deployment</a:t>
            </a:r>
            <a:endParaRPr lang="en-US" dirty="0"/>
          </a:p>
        </p:txBody>
      </p:sp>
      <p:sp>
        <p:nvSpPr>
          <p:cNvPr id="3" name="Rectangle 1">
            <a:extLst>
              <a:ext uri="{FF2B5EF4-FFF2-40B4-BE49-F238E27FC236}">
                <a16:creationId xmlns:a16="http://schemas.microsoft.com/office/drawing/2014/main" id="{36B1088C-89EA-3F94-B807-2B09819E8AD8}"/>
              </a:ext>
            </a:extLst>
          </p:cNvPr>
          <p:cNvSpPr>
            <a:spLocks noGrp="1" noChangeArrowheads="1"/>
          </p:cNvSpPr>
          <p:nvPr>
            <p:ph idx="1"/>
          </p:nvPr>
        </p:nvSpPr>
        <p:spPr bwMode="auto">
          <a:xfrm>
            <a:off x="581193" y="1830521"/>
            <a:ext cx="8704850" cy="4621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000" b="1" dirty="0"/>
              <a:t>1. Algorithm Workflow:-</a:t>
            </a:r>
          </a:p>
          <a:p>
            <a:r>
              <a:rPr lang="en-IN" sz="2000" dirty="0"/>
              <a:t>▪ </a:t>
            </a:r>
            <a:r>
              <a:rPr lang="en-IN" sz="2000" b="1" dirty="0"/>
              <a:t>Step 1: User Input</a:t>
            </a:r>
            <a:br>
              <a:rPr lang="en-IN" sz="2000" dirty="0"/>
            </a:br>
            <a:r>
              <a:rPr lang="en-IN" sz="2000" dirty="0"/>
              <a:t>User enters age, weight, height, fitness goal, and diet preference.</a:t>
            </a:r>
          </a:p>
          <a:p>
            <a:r>
              <a:rPr lang="en-IN" sz="2000" dirty="0"/>
              <a:t>▪ </a:t>
            </a:r>
            <a:r>
              <a:rPr lang="en-IN" sz="2000" b="1" dirty="0"/>
              <a:t>Step 2: Data Processing</a:t>
            </a:r>
            <a:br>
              <a:rPr lang="en-IN" sz="2000" dirty="0"/>
            </a:br>
            <a:r>
              <a:rPr lang="en-IN" sz="2000" dirty="0"/>
              <a:t>System calculates BMI, calorie needs, and nutrition requirements.</a:t>
            </a:r>
          </a:p>
          <a:p>
            <a:r>
              <a:rPr lang="en-IN" sz="2000" dirty="0"/>
              <a:t>▪ </a:t>
            </a:r>
            <a:r>
              <a:rPr lang="en-IN" sz="2000" b="1" dirty="0"/>
              <a:t>Step 3: AI Recommendation</a:t>
            </a:r>
            <a:br>
              <a:rPr lang="en-IN" sz="2000" dirty="0"/>
            </a:br>
            <a:r>
              <a:rPr lang="en-IN" sz="2000" dirty="0"/>
              <a:t>Gemini API </a:t>
            </a:r>
            <a:r>
              <a:rPr lang="en-IN" sz="2000" dirty="0" err="1"/>
              <a:t>analyzes</a:t>
            </a:r>
            <a:r>
              <a:rPr lang="en-IN" sz="2000" dirty="0"/>
              <a:t> the data and generates</a:t>
            </a:r>
          </a:p>
          <a:p>
            <a:r>
              <a:rPr lang="en-IN" sz="2000" dirty="0"/>
              <a:t>personalized workout plan</a:t>
            </a:r>
          </a:p>
          <a:p>
            <a:pPr>
              <a:buFont typeface="Arial" panose="020B0604020202020204" pitchFamily="34" charset="0"/>
              <a:buChar char="•"/>
            </a:pPr>
            <a:r>
              <a:rPr lang="en-IN" sz="2000" dirty="0"/>
              <a:t>daily diet recommendations</a:t>
            </a:r>
          </a:p>
          <a:p>
            <a:r>
              <a:rPr lang="en-IN" sz="2000" dirty="0"/>
              <a:t>▪ </a:t>
            </a:r>
            <a:r>
              <a:rPr lang="en-IN" sz="2000" b="1" dirty="0"/>
              <a:t>Step 4: Result Display</a:t>
            </a:r>
            <a:br>
              <a:rPr lang="en-IN" sz="2000" dirty="0"/>
            </a:br>
            <a:r>
              <a:rPr lang="en-IN" sz="2000" dirty="0"/>
              <a:t>The system displays a customized fitness and meal plan.</a:t>
            </a:r>
          </a:p>
        </p:txBody>
      </p:sp>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3" name="Rectangle 1">
            <a:extLst>
              <a:ext uri="{FF2B5EF4-FFF2-40B4-BE49-F238E27FC236}">
                <a16:creationId xmlns:a16="http://schemas.microsoft.com/office/drawing/2014/main" id="{36B1088C-89EA-3F94-B807-2B09819E8AD8}"/>
              </a:ext>
            </a:extLst>
          </p:cNvPr>
          <p:cNvSpPr>
            <a:spLocks noGrp="1" noChangeArrowheads="1"/>
          </p:cNvSpPr>
          <p:nvPr>
            <p:ph idx="1"/>
          </p:nvPr>
        </p:nvSpPr>
        <p:spPr bwMode="auto">
          <a:xfrm>
            <a:off x="581192" y="3345018"/>
            <a:ext cx="675367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513328C0-A291-44AA-3104-C1811C7152E4}"/>
              </a:ext>
            </a:extLst>
          </p:cNvPr>
          <p:cNvSpPr>
            <a:spLocks noChangeArrowheads="1"/>
          </p:cNvSpPr>
          <p:nvPr/>
        </p:nvSpPr>
        <p:spPr bwMode="auto">
          <a:xfrm>
            <a:off x="581192" y="1590693"/>
            <a:ext cx="10309831"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2. Deployment (Step-by-Step):-</a:t>
            </a:r>
          </a:p>
          <a:p>
            <a:endParaRPr lang="en-US" b="1" dirty="0"/>
          </a:p>
          <a:p>
            <a:r>
              <a:rPr lang="en-US" dirty="0"/>
              <a:t> </a:t>
            </a:r>
            <a:r>
              <a:rPr lang="en-US" b="1" dirty="0"/>
              <a:t>Step A: Version Control (GitHub)</a:t>
            </a:r>
            <a:br>
              <a:rPr lang="en-US" dirty="0"/>
            </a:br>
            <a:r>
              <a:rPr lang="en-US" dirty="0"/>
              <a:t>▪ Project code is stored in a GitHub repository.</a:t>
            </a:r>
            <a:br>
              <a:rPr lang="en-US" dirty="0"/>
            </a:br>
            <a:r>
              <a:rPr lang="en-US" dirty="0"/>
              <a:t>▪ API keys are stored securely using environment variables.</a:t>
            </a:r>
          </a:p>
          <a:p>
            <a:endParaRPr lang="en-US" dirty="0"/>
          </a:p>
          <a:p>
            <a:r>
              <a:rPr lang="en-US" dirty="0"/>
              <a:t> </a:t>
            </a:r>
            <a:r>
              <a:rPr lang="en-US" b="1" dirty="0"/>
              <a:t>Step B: Cloud Hosting (</a:t>
            </a:r>
            <a:r>
              <a:rPr lang="en-US" b="1" dirty="0" err="1"/>
              <a:t>Streamlit</a:t>
            </a:r>
            <a:r>
              <a:rPr lang="en-US" b="1" dirty="0"/>
              <a:t> Cloud)</a:t>
            </a:r>
            <a:br>
              <a:rPr lang="en-US" dirty="0"/>
            </a:br>
            <a:r>
              <a:rPr lang="en-US" dirty="0"/>
              <a:t>▪ The app is deployed using </a:t>
            </a:r>
            <a:r>
              <a:rPr lang="en-US" dirty="0" err="1"/>
              <a:t>Streamlit</a:t>
            </a:r>
            <a:r>
              <a:rPr lang="en-US" dirty="0"/>
              <a:t> Cloud.</a:t>
            </a:r>
            <a:br>
              <a:rPr lang="en-US" dirty="0"/>
            </a:br>
            <a:r>
              <a:rPr lang="en-US" dirty="0"/>
              <a:t>▪ Required libraries are installed automatically.</a:t>
            </a:r>
          </a:p>
          <a:p>
            <a:endParaRPr lang="en-US" dirty="0"/>
          </a:p>
          <a:p>
            <a:r>
              <a:rPr lang="en-US" dirty="0"/>
              <a:t> </a:t>
            </a:r>
            <a:r>
              <a:rPr lang="en-US" b="1" dirty="0"/>
              <a:t>Step C: Secret Key Setup</a:t>
            </a:r>
            <a:br>
              <a:rPr lang="en-US" dirty="0"/>
            </a:br>
            <a:r>
              <a:rPr lang="en-US" dirty="0"/>
              <a:t>▪ Gemini API key is added securely in </a:t>
            </a:r>
            <a:r>
              <a:rPr lang="en-US" dirty="0" err="1"/>
              <a:t>Streamlit</a:t>
            </a:r>
            <a:r>
              <a:rPr lang="en-US" dirty="0"/>
              <a:t> secrets.</a:t>
            </a:r>
            <a:br>
              <a:rPr lang="en-US" dirty="0"/>
            </a:br>
            <a:r>
              <a:rPr lang="en-US" dirty="0"/>
              <a:t>▪ Keeps API keys safe and hidden.</a:t>
            </a:r>
          </a:p>
          <a:p>
            <a:endParaRPr lang="en-US" dirty="0"/>
          </a:p>
          <a:p>
            <a:r>
              <a:rPr lang="en-US" dirty="0"/>
              <a:t> </a:t>
            </a:r>
            <a:r>
              <a:rPr lang="en-US" b="1" dirty="0"/>
              <a:t>Step D: Production Launch</a:t>
            </a:r>
            <a:br>
              <a:rPr lang="en-US" dirty="0"/>
            </a:br>
            <a:r>
              <a:rPr lang="en-US" dirty="0"/>
              <a:t>▪ App becomes live and accessible to users.</a:t>
            </a:r>
            <a:br>
              <a:rPr lang="en-US" dirty="0"/>
            </a:br>
            <a:r>
              <a:rPr lang="en-US" dirty="0"/>
              <a:t>▪ Users can access it through a public URL.</a:t>
            </a:r>
          </a:p>
        </p:txBody>
      </p:sp>
    </p:spTree>
    <p:extLst>
      <p:ext uri="{BB962C8B-B14F-4D97-AF65-F5344CB8AC3E}">
        <p14:creationId xmlns:p14="http://schemas.microsoft.com/office/powerpoint/2010/main" val="7677465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6" name="Picture 5">
            <a:extLst>
              <a:ext uri="{FF2B5EF4-FFF2-40B4-BE49-F238E27FC236}">
                <a16:creationId xmlns:a16="http://schemas.microsoft.com/office/drawing/2014/main" id="{E4CA5CA0-E813-4464-86E2-E17A00E84430}"/>
              </a:ext>
            </a:extLst>
          </p:cNvPr>
          <p:cNvPicPr>
            <a:picLocks noChangeAspect="1"/>
          </p:cNvPicPr>
          <p:nvPr/>
        </p:nvPicPr>
        <p:blipFill>
          <a:blip r:embed="rId2"/>
          <a:stretch>
            <a:fillRect/>
          </a:stretch>
        </p:blipFill>
        <p:spPr>
          <a:xfrm>
            <a:off x="483537" y="1314571"/>
            <a:ext cx="10265546" cy="5180994"/>
          </a:xfrm>
          <a:prstGeom prst="rect">
            <a:avLst/>
          </a:prstGeom>
        </p:spPr>
      </p:pic>
    </p:spTree>
    <p:extLst>
      <p:ext uri="{BB962C8B-B14F-4D97-AF65-F5344CB8AC3E}">
        <p14:creationId xmlns:p14="http://schemas.microsoft.com/office/powerpoint/2010/main" val="711665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6" name="Content Placeholder 5">
            <a:extLst>
              <a:ext uri="{FF2B5EF4-FFF2-40B4-BE49-F238E27FC236}">
                <a16:creationId xmlns:a16="http://schemas.microsoft.com/office/drawing/2014/main" id="{BCE8684A-5821-43AE-8391-A13F95E27AB2}"/>
              </a:ext>
            </a:extLst>
          </p:cNvPr>
          <p:cNvPicPr>
            <a:picLocks noGrp="1" noChangeAspect="1"/>
          </p:cNvPicPr>
          <p:nvPr>
            <p:ph idx="1"/>
          </p:nvPr>
        </p:nvPicPr>
        <p:blipFill>
          <a:blip r:embed="rId2"/>
          <a:stretch>
            <a:fillRect/>
          </a:stretch>
        </p:blipFill>
        <p:spPr>
          <a:xfrm>
            <a:off x="581192" y="1399404"/>
            <a:ext cx="10103224" cy="4673600"/>
          </a:xfrm>
        </p:spPr>
      </p:pic>
    </p:spTree>
    <p:extLst>
      <p:ext uri="{BB962C8B-B14F-4D97-AF65-F5344CB8AC3E}">
        <p14:creationId xmlns:p14="http://schemas.microsoft.com/office/powerpoint/2010/main" val="3840031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8" name="Content Placeholder 7">
            <a:extLst>
              <a:ext uri="{FF2B5EF4-FFF2-40B4-BE49-F238E27FC236}">
                <a16:creationId xmlns:a16="http://schemas.microsoft.com/office/drawing/2014/main" id="{0AFEB683-E2B1-487B-97F7-6D570A7AADAA}"/>
              </a:ext>
            </a:extLst>
          </p:cNvPr>
          <p:cNvPicPr>
            <a:picLocks noGrp="1" noChangeAspect="1"/>
          </p:cNvPicPr>
          <p:nvPr>
            <p:ph idx="1"/>
          </p:nvPr>
        </p:nvPicPr>
        <p:blipFill>
          <a:blip r:embed="rId2"/>
          <a:stretch>
            <a:fillRect/>
          </a:stretch>
        </p:blipFill>
        <p:spPr>
          <a:xfrm>
            <a:off x="669968" y="1301750"/>
            <a:ext cx="10310871" cy="5023796"/>
          </a:xfrm>
        </p:spPr>
      </p:pic>
    </p:spTree>
    <p:extLst>
      <p:ext uri="{BB962C8B-B14F-4D97-AF65-F5344CB8AC3E}">
        <p14:creationId xmlns:p14="http://schemas.microsoft.com/office/powerpoint/2010/main" val="34309351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Conclusion</a:t>
            </a:r>
            <a:endParaRPr lang="en-US" dirty="0"/>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p:txBody>
          <a:bodyPr>
            <a:normAutofit/>
          </a:bodyPr>
          <a:lstStyle/>
          <a:p>
            <a:r>
              <a:rPr lang="en-US" sz="2000" dirty="0"/>
              <a:t>➤ </a:t>
            </a:r>
            <a:r>
              <a:rPr lang="en-US" sz="2000" b="1" dirty="0"/>
              <a:t>Personalized Workout &amp; Diet Planner with AI</a:t>
            </a:r>
            <a:r>
              <a:rPr lang="en-US" sz="2000" dirty="0"/>
              <a:t> demonstrates how Artificial Intelligence can simplify fitness planning for students by providing customized workout routines and nutrition guidance based on individual needs.</a:t>
            </a:r>
          </a:p>
          <a:p>
            <a:r>
              <a:rPr lang="en-US" sz="2000" dirty="0"/>
              <a:t>➤ By integrating </a:t>
            </a:r>
            <a:r>
              <a:rPr lang="en-US" sz="2000" b="1" dirty="0"/>
              <a:t>Gemini AI</a:t>
            </a:r>
            <a:r>
              <a:rPr lang="en-US" sz="2000" dirty="0"/>
              <a:t> for intelligent recommendations and deploying the system as a web application, the project moves beyond generic fitness advice to deliver a truly personalized and practical wellness solution.</a:t>
            </a:r>
          </a:p>
          <a:p>
            <a:r>
              <a:rPr lang="en-US" sz="2000" dirty="0"/>
              <a:t>➤ The successful deployment of this system ensures that students can access affordable, culturally appropriate, and goal-oriented fitness guidance anytime, anywhere.</a:t>
            </a:r>
          </a:p>
          <a:p>
            <a:r>
              <a:rPr lang="en-US" sz="2000" dirty="0"/>
              <a:t>➤ Ultimately, the system empowers users to adopt healthier lifestyles, maintain consistency, and achieve long-term fitness goals with confidence.</a:t>
            </a:r>
          </a:p>
        </p:txBody>
      </p:sp>
    </p:spTree>
    <p:extLst>
      <p:ext uri="{BB962C8B-B14F-4D97-AF65-F5344CB8AC3E}">
        <p14:creationId xmlns:p14="http://schemas.microsoft.com/office/powerpoint/2010/main" val="3183315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
        <p:nvSpPr>
          <p:cNvPr id="7" name="Rectangle 3">
            <a:extLst>
              <a:ext uri="{FF2B5EF4-FFF2-40B4-BE49-F238E27FC236}">
                <a16:creationId xmlns:a16="http://schemas.microsoft.com/office/drawing/2014/main" id="{BBCE0E30-F38C-D82A-6AE5-ECF63EAB5E53}"/>
              </a:ext>
            </a:extLst>
          </p:cNvPr>
          <p:cNvSpPr>
            <a:spLocks noChangeArrowheads="1"/>
          </p:cNvSpPr>
          <p:nvPr/>
        </p:nvSpPr>
        <p:spPr bwMode="auto">
          <a:xfrm>
            <a:off x="778933" y="2990333"/>
            <a:ext cx="9063157" cy="2850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6C4B65BD-A092-7C50-9580-847F694B2710}"/>
              </a:ext>
            </a:extLst>
          </p:cNvPr>
          <p:cNvSpPr>
            <a:spLocks noChangeArrowheads="1"/>
          </p:cNvSpPr>
          <p:nvPr/>
        </p:nvSpPr>
        <p:spPr bwMode="auto">
          <a:xfrm rot="10800000" flipV="1">
            <a:off x="216305" y="1139357"/>
            <a:ext cx="11866203"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 </a:t>
            </a:r>
          </a:p>
          <a:p>
            <a:r>
              <a:rPr lang="en-US" b="1" dirty="0"/>
              <a:t>AI Progress Tracking &amp; Smart Insights:</a:t>
            </a:r>
            <a:br>
              <a:rPr lang="en-US" dirty="0"/>
            </a:br>
            <a:r>
              <a:rPr lang="en-US" dirty="0"/>
              <a:t>▪ Implement an AI module to track user progress and provide real-time fitness improvement insights.</a:t>
            </a:r>
            <a:br>
              <a:rPr lang="en-US" dirty="0"/>
            </a:br>
            <a:r>
              <a:rPr lang="en-US" dirty="0"/>
              <a:t>▪ This will help users stay motivated and achieve better results.</a:t>
            </a:r>
          </a:p>
          <a:p>
            <a:endParaRPr lang="en-US" dirty="0"/>
          </a:p>
          <a:p>
            <a:r>
              <a:rPr lang="en-US" dirty="0"/>
              <a:t> </a:t>
            </a:r>
            <a:r>
              <a:rPr lang="en-US" b="1" dirty="0"/>
              <a:t>Personal Health Monitoring &amp; Coaching:</a:t>
            </a:r>
            <a:br>
              <a:rPr lang="en-US" dirty="0"/>
            </a:br>
            <a:r>
              <a:rPr lang="en-US" dirty="0"/>
              <a:t>▪ Integrate daily activity tracking and personalized health tips.</a:t>
            </a:r>
            <a:br>
              <a:rPr lang="en-US" dirty="0"/>
            </a:br>
            <a:r>
              <a:rPr lang="en-US" dirty="0"/>
              <a:t>▪ Send reminders for workouts, hydration, and healthy habits</a:t>
            </a:r>
          </a:p>
          <a:p>
            <a:r>
              <a:rPr lang="en-US" dirty="0"/>
              <a:t>.</a:t>
            </a:r>
          </a:p>
          <a:p>
            <a:r>
              <a:rPr lang="en-US" dirty="0"/>
              <a:t> </a:t>
            </a:r>
            <a:r>
              <a:rPr lang="en-US" b="1" dirty="0"/>
              <a:t>Mobile App Integration:</a:t>
            </a:r>
            <a:br>
              <a:rPr lang="en-US" dirty="0"/>
            </a:br>
            <a:r>
              <a:rPr lang="en-US" dirty="0"/>
              <a:t>▪ Develop a mobile application for easier access and notifications.</a:t>
            </a:r>
            <a:br>
              <a:rPr lang="en-US" dirty="0"/>
            </a:br>
            <a:r>
              <a:rPr lang="en-US" dirty="0"/>
              <a:t>▪ Enable push alerts for workout schedules and meal timings.</a:t>
            </a:r>
          </a:p>
          <a:p>
            <a:endParaRPr lang="en-US" dirty="0"/>
          </a:p>
          <a:p>
            <a:r>
              <a:rPr lang="en-US" dirty="0"/>
              <a:t> </a:t>
            </a:r>
            <a:r>
              <a:rPr lang="en-US" b="1" dirty="0"/>
              <a:t>Wearable Device Integration:</a:t>
            </a:r>
            <a:br>
              <a:rPr lang="en-US" dirty="0"/>
            </a:br>
            <a:r>
              <a:rPr lang="en-US" dirty="0"/>
              <a:t>▪ Connect with smartwatches or fitness bands to monitor steps, heart rate, and calories burned.</a:t>
            </a:r>
          </a:p>
          <a:p>
            <a:endParaRPr lang="en-US" dirty="0"/>
          </a:p>
          <a:p>
            <a:r>
              <a:rPr lang="en-US" dirty="0"/>
              <a:t> </a:t>
            </a:r>
            <a:r>
              <a:rPr lang="en-US" b="1" dirty="0"/>
              <a:t>Advanced AI Fitness Coach:</a:t>
            </a:r>
            <a:br>
              <a:rPr lang="en-US" dirty="0"/>
            </a:br>
            <a:r>
              <a:rPr lang="en-US" dirty="0"/>
              <a:t>▪ Add an AI chatbot to answer fitness and nutrition questions in real time.</a:t>
            </a:r>
          </a:p>
        </p:txBody>
      </p:sp>
    </p:spTree>
    <p:extLst>
      <p:ext uri="{BB962C8B-B14F-4D97-AF65-F5344CB8AC3E}">
        <p14:creationId xmlns:p14="http://schemas.microsoft.com/office/powerpoint/2010/main" val="614882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Rectangle 1">
            <a:extLst>
              <a:ext uri="{FF2B5EF4-FFF2-40B4-BE49-F238E27FC236}">
                <a16:creationId xmlns:a16="http://schemas.microsoft.com/office/drawing/2014/main" id="{3BB2BBBB-3565-3B77-08D5-46C097CEEFFC}"/>
              </a:ext>
            </a:extLst>
          </p:cNvPr>
          <p:cNvSpPr>
            <a:spLocks noChangeArrowheads="1"/>
          </p:cNvSpPr>
          <p:nvPr/>
        </p:nvSpPr>
        <p:spPr bwMode="auto">
          <a:xfrm>
            <a:off x="420951" y="1646628"/>
            <a:ext cx="11262063"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dirty="0"/>
              <a:t>➤ </a:t>
            </a:r>
            <a:r>
              <a:rPr lang="en-IN" b="1" dirty="0"/>
              <a:t>Google AI Studio:</a:t>
            </a:r>
            <a:r>
              <a:rPr lang="en-IN" dirty="0"/>
              <a:t> Documentation for the Gemini AI model used to generate personalized workout and diet recommendations.</a:t>
            </a:r>
          </a:p>
          <a:p>
            <a:endParaRPr lang="en-IN" dirty="0"/>
          </a:p>
          <a:p>
            <a:r>
              <a:rPr lang="en-IN" dirty="0"/>
              <a:t>➤ </a:t>
            </a:r>
            <a:r>
              <a:rPr lang="en-IN" b="1" dirty="0" err="1"/>
              <a:t>Streamlit</a:t>
            </a:r>
            <a:r>
              <a:rPr lang="en-IN" b="1" dirty="0"/>
              <a:t> Documentation:</a:t>
            </a:r>
            <a:r>
              <a:rPr lang="en-IN" dirty="0"/>
              <a:t> Guide for building interactive web applications and deploying data apps.</a:t>
            </a:r>
          </a:p>
          <a:p>
            <a:endParaRPr lang="en-IN" dirty="0"/>
          </a:p>
          <a:p>
            <a:r>
              <a:rPr lang="en-IN" dirty="0"/>
              <a:t>➤ </a:t>
            </a:r>
            <a:r>
              <a:rPr lang="en-IN" b="1" dirty="0"/>
              <a:t>Python Documentation:</a:t>
            </a:r>
            <a:r>
              <a:rPr lang="en-IN" dirty="0"/>
              <a:t> Reference for core programming and application development.</a:t>
            </a:r>
          </a:p>
          <a:p>
            <a:endParaRPr lang="en-IN" dirty="0"/>
          </a:p>
          <a:p>
            <a:r>
              <a:rPr lang="en-IN" dirty="0"/>
              <a:t>➤ </a:t>
            </a:r>
            <a:r>
              <a:rPr lang="en-IN" b="1" dirty="0"/>
              <a:t>Pandas &amp; NumPy Libraries:</a:t>
            </a:r>
            <a:r>
              <a:rPr lang="en-IN" dirty="0"/>
              <a:t> Documentation for data processing, calculations, and BMI analysis.</a:t>
            </a:r>
          </a:p>
          <a:p>
            <a:endParaRPr lang="en-IN" dirty="0"/>
          </a:p>
          <a:p>
            <a:r>
              <a:rPr lang="en-IN" dirty="0"/>
              <a:t>➤ </a:t>
            </a:r>
            <a:r>
              <a:rPr lang="en-IN" b="1" dirty="0"/>
              <a:t>WHO &amp; Nutrition Guidelines:</a:t>
            </a:r>
            <a:r>
              <a:rPr lang="en-IN" dirty="0"/>
              <a:t> Reference standards for BMI classification and daily nutritional requirements</a:t>
            </a:r>
          </a:p>
          <a:p>
            <a:r>
              <a:rPr lang="en-IN" dirty="0"/>
              <a:t>.</a:t>
            </a:r>
          </a:p>
          <a:p>
            <a:r>
              <a:rPr lang="en-IN" dirty="0"/>
              <a:t>➤ </a:t>
            </a:r>
            <a:r>
              <a:rPr lang="en-IN" b="1" dirty="0" err="1"/>
              <a:t>Streamlit</a:t>
            </a:r>
            <a:r>
              <a:rPr lang="en-IN" b="1" dirty="0"/>
              <a:t> Cloud:</a:t>
            </a:r>
            <a:r>
              <a:rPr lang="en-IN" dirty="0"/>
              <a:t> Documentation for cloud deployment and secure secret key management.</a:t>
            </a:r>
          </a:p>
        </p:txBody>
      </p:sp>
    </p:spTree>
    <p:extLst>
      <p:ext uri="{BB962C8B-B14F-4D97-AF65-F5344CB8AC3E}">
        <p14:creationId xmlns:p14="http://schemas.microsoft.com/office/powerpoint/2010/main" val="7289502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C18F4-90FF-869B-D16A-31F40314E23F}"/>
              </a:ext>
            </a:extLst>
          </p:cNvPr>
          <p:cNvSpPr>
            <a:spLocks noGrp="1"/>
          </p:cNvSpPr>
          <p:nvPr>
            <p:ph type="title"/>
          </p:nvPr>
        </p:nvSpPr>
        <p:spPr/>
        <p:txBody>
          <a:bodyPr/>
          <a:lstStyle/>
          <a:p>
            <a:r>
              <a:rPr lang="en-US" dirty="0" err="1"/>
              <a:t>Github</a:t>
            </a:r>
            <a:r>
              <a:rPr lang="en-US" dirty="0"/>
              <a:t> link</a:t>
            </a:r>
            <a:endParaRPr lang="en-IN" dirty="0"/>
          </a:p>
        </p:txBody>
      </p:sp>
      <p:sp>
        <p:nvSpPr>
          <p:cNvPr id="3" name="Content Placeholder 2">
            <a:extLst>
              <a:ext uri="{FF2B5EF4-FFF2-40B4-BE49-F238E27FC236}">
                <a16:creationId xmlns:a16="http://schemas.microsoft.com/office/drawing/2014/main" id="{D728B4D2-2154-F20B-F64F-A6097D21B39F}"/>
              </a:ext>
            </a:extLst>
          </p:cNvPr>
          <p:cNvSpPr>
            <a:spLocks noGrp="1"/>
          </p:cNvSpPr>
          <p:nvPr>
            <p:ph idx="1"/>
          </p:nvPr>
        </p:nvSpPr>
        <p:spPr>
          <a:xfrm>
            <a:off x="581192" y="230310"/>
            <a:ext cx="9516537" cy="4673324"/>
          </a:xfrm>
        </p:spPr>
        <p:txBody>
          <a:bodyPr/>
          <a:lstStyle/>
          <a:p>
            <a:r>
              <a:rPr lang="en-IN" b="1" u="sng" dirty="0" err="1">
                <a:latin typeface="Arial" panose="020B0604020202020204" pitchFamily="34" charset="0"/>
                <a:cs typeface="Arial" panose="020B0604020202020204" pitchFamily="34" charset="0"/>
              </a:rPr>
              <a:t>Github</a:t>
            </a:r>
            <a:r>
              <a:rPr lang="en-IN" b="1" u="sng" dirty="0">
                <a:latin typeface="Arial" panose="020B0604020202020204" pitchFamily="34" charset="0"/>
                <a:cs typeface="Arial" panose="020B0604020202020204" pitchFamily="34" charset="0"/>
              </a:rPr>
              <a:t> Link: </a:t>
            </a:r>
            <a:r>
              <a:rPr lang="en-IN" dirty="0">
                <a:latin typeface="Arial" panose="020B0604020202020204" pitchFamily="34" charset="0"/>
                <a:cs typeface="Arial" panose="020B0604020202020204" pitchFamily="34" charset="0"/>
                <a:hlinkClick r:id="rId2"/>
              </a:rPr>
              <a:t>https://github.com/Tanmaysanap45/AICTE-BATCH7-MY-PROJECT.git</a:t>
            </a:r>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r>
              <a:rPr lang="en-IN" b="1" u="sng" dirty="0">
                <a:latin typeface="Arial" panose="020B0604020202020204" pitchFamily="34" charset="0"/>
                <a:cs typeface="Arial" panose="020B0604020202020204" pitchFamily="34" charset="0"/>
              </a:rPr>
              <a:t>Deployment Link</a:t>
            </a:r>
            <a:r>
              <a:rPr lang="en-IN" u="sng" dirty="0">
                <a:latin typeface="Arial" panose="020B0604020202020204" pitchFamily="34" charset="0"/>
                <a:cs typeface="Arial" panose="020B0604020202020204" pitchFamily="34" charset="0"/>
              </a:rPr>
              <a:t>: https://ai-wellness-app.streamlit.app/</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959093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dirty="0">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Future forward</Template>
  <TotalTime>1469</TotalTime>
  <Words>1085</Words>
  <Application>Microsoft Office PowerPoint</Application>
  <PresentationFormat>Widescreen</PresentationFormat>
  <Paragraphs>93</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Calibri Light</vt:lpstr>
      <vt:lpstr>Franklin Gothic Book</vt:lpstr>
      <vt:lpstr>Franklin Gothic Demi</vt:lpstr>
      <vt:lpstr>Wingdings 2</vt:lpstr>
      <vt:lpstr>DividendVTI</vt:lpstr>
      <vt:lpstr>CardScout: an Intelligent Credit Card Finder.</vt:lpstr>
      <vt:lpstr>OUTLINE</vt:lpstr>
      <vt:lpstr>Problem Statement</vt:lpstr>
      <vt:lpstr>Proposed Solution</vt:lpstr>
      <vt:lpstr>System  Approach</vt:lpstr>
      <vt:lpstr>Algorithm &amp; Deployment</vt:lpstr>
      <vt:lpstr>Algorithm &amp; Deployment</vt:lpstr>
      <vt:lpstr>Result</vt:lpstr>
      <vt:lpstr>Result</vt:lpstr>
      <vt:lpstr>Result</vt:lpstr>
      <vt:lpstr>Conclusion</vt:lpstr>
      <vt:lpstr>PowerPoint Presentation</vt:lpstr>
      <vt:lpstr>References</vt:lpstr>
      <vt:lpstr>Github link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sanaptanmay85@gmail.com</cp:lastModifiedBy>
  <cp:revision>44</cp:revision>
  <dcterms:created xsi:type="dcterms:W3CDTF">2021-05-26T16:50:10Z</dcterms:created>
  <dcterms:modified xsi:type="dcterms:W3CDTF">2026-02-27T18:40:21Z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